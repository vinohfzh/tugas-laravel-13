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 SemiBold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6A2F5B-5B84-42BF-8802-2091FCFBB0C1}">
  <a:tblStyle styleId="{7C6A2F5B-5B84-42BF-8802-2091FCFBB0C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regular.fntdata"/><Relationship Id="rId22" Type="http://schemas.openxmlformats.org/officeDocument/2006/relationships/font" Target="fonts/UrbanistSemiBold-italic.fntdata"/><Relationship Id="rId21" Type="http://schemas.openxmlformats.org/officeDocument/2006/relationships/font" Target="fonts/UrbanistSemiBold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24.png"/><Relationship Id="rId8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Relationship Id="rId7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18.png"/><Relationship Id="rId6" Type="http://schemas.openxmlformats.org/officeDocument/2006/relationships/image" Target="../media/image25.png"/><Relationship Id="rId7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10.png"/><Relationship Id="rId5" Type="http://schemas.openxmlformats.org/officeDocument/2006/relationships/image" Target="../media/image31.png"/><Relationship Id="rId6" Type="http://schemas.openxmlformats.org/officeDocument/2006/relationships/image" Target="../media/image15.png"/><Relationship Id="rId7" Type="http://schemas.openxmlformats.org/officeDocument/2006/relationships/image" Target="../media/image32.png"/><Relationship Id="rId8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33.png"/><Relationship Id="rId5" Type="http://schemas.openxmlformats.org/officeDocument/2006/relationships/image" Target="../media/image29.png"/><Relationship Id="rId6" Type="http://schemas.openxmlformats.org/officeDocument/2006/relationships/image" Target="../media/image21.png"/><Relationship Id="rId7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05075" y="1636514"/>
            <a:ext cx="71818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FFA3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DOKUMENTASI PRAKTIKUM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325525" y="2383175"/>
            <a:ext cx="75294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FFA3"/>
                </a:solidFill>
                <a:latin typeface="Urbanist"/>
                <a:ea typeface="Urbanist"/>
                <a:cs typeface="Urbanist"/>
                <a:sym typeface="Urbanist"/>
              </a:rPr>
              <a:t>LARAVEL 13</a:t>
            </a:r>
            <a:br>
              <a:rPr b="0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400" u="none" cap="none" strike="noStrike">
                <a:solidFill>
                  <a:srgbClr val="00FFA3"/>
                </a:solidFill>
                <a:latin typeface="Urbanist"/>
                <a:ea typeface="Urbanist"/>
                <a:cs typeface="Urbanist"/>
                <a:sym typeface="Urbanist"/>
              </a:rPr>
              <a:t> AI NATIVE FRAMEWORK</a:t>
            </a:r>
            <a:endParaRPr sz="400"/>
          </a:p>
        </p:txBody>
      </p:sp>
      <p:sp>
        <p:nvSpPr>
          <p:cNvPr id="87" name="Google Shape;87;p13"/>
          <p:cNvSpPr txBox="1"/>
          <p:nvPr/>
        </p:nvSpPr>
        <p:spPr>
          <a:xfrm>
            <a:off x="2505075" y="4272706"/>
            <a:ext cx="7181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Vino Hafizh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| XI RPL / 41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505075" y="4577506"/>
            <a:ext cx="7181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Study Case: Sistem Manajemen Tugas Sekolah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505075" y="4977556"/>
            <a:ext cx="7181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19 Mei 2026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353550" y="6400800"/>
            <a:ext cx="22574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Urbanist"/>
                <a:ea typeface="Urbanist"/>
                <a:cs typeface="Urbanist"/>
                <a:sym typeface="Urbanist"/>
              </a:rPr>
              <a:t>LARAVEL 13 DOCUMENTATION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76512"/>
            <a:ext cx="254317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2576512"/>
            <a:ext cx="254317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576512"/>
            <a:ext cx="254317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7800" y="2576512"/>
            <a:ext cx="2543175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76300" y="3519487"/>
            <a:ext cx="205025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Pendahuluan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76300" y="3938587"/>
            <a:ext cx="1952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Latar belakang Laravel 13 &amp; Tujuan praktikum.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3705225" y="3519487"/>
            <a:ext cx="205025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Fitur Utama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3705225" y="3938587"/>
            <a:ext cx="1952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Laravel Boost, JSON Response, &amp; Attribute-Based Dev.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34150" y="3519487"/>
            <a:ext cx="205025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Security &amp; Queue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34150" y="3938587"/>
            <a:ext cx="1952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PreventRequestForgery &amp; Modernisasi Antrean.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363075" y="3519487"/>
            <a:ext cx="205025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Evaluasi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363075" y="3938587"/>
            <a:ext cx="1952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Perbandingan L12 vs L13 &amp; Refleksi Penggunaan AI.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900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05225" y="29003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900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63075" y="29003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FFA3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Daftar Isi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66962"/>
            <a:ext cx="5276850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66962"/>
            <a:ext cx="5276850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76300" y="2662237"/>
            <a:ext cx="492061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Visi Laravel 13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629400" y="2662237"/>
            <a:ext cx="492061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Target Praktikum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257300" y="3081337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Konsep </a:t>
            </a: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AI Native Development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(2026).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257300" y="3576637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Integrasi AI &amp; Otomasi produktivitas.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257300" y="4071937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Peningkatan Developer Experience (DX).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010400" y="3081337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Instalasi PHP 8.3+ &amp; Laravel 13.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010400" y="3576637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Implementasi 5 fitur inti baru.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010400" y="4071937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Rest API dengan Standard JSON.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010400" y="4567237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Dokumentasi teknis komprehensif.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FFA3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Latar Belakang &amp; Tujuan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30813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35766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4071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30813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35766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4071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45672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81025" y="208121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Sistem Manajemen Tugas Sekolah: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Platform kolaborasi untuk Siswa, Guru, dan Admin.</a:t>
            </a:r>
            <a:endParaRPr/>
          </a:p>
        </p:txBody>
      </p:sp>
      <p:graphicFrame>
        <p:nvGraphicFramePr>
          <p:cNvPr id="145" name="Google Shape;145;p16"/>
          <p:cNvGraphicFramePr/>
          <p:nvPr/>
        </p:nvGraphicFramePr>
        <p:xfrm>
          <a:off x="581025" y="27670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{7C6A2F5B-5B84-42BF-8802-2091FCFBB0C1}</a:tableStyleId>
              </a:tblPr>
              <a:tblGrid>
                <a:gridCol w="3077775"/>
                <a:gridCol w="2019300"/>
                <a:gridCol w="5932875"/>
              </a:tblGrid>
              <a:tr h="57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FFA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Fitur Proyek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FFA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FFA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Deskripsi Singkat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57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CRUD Tugas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FFA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✔ Terpasang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Manajemen data tugas (Pending/Progress/Done).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Deadline Management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FFA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✔ Terpasang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Pengingat waktu pengumpulan otomatis.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REST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FFA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✔ Terpasang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 JSON Response Laravel 13.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Queue Reminder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FFA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✔ Terpasang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Email/Notif terjadwal di background.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" name="Google Shape;146;p16"/>
          <p:cNvSpPr/>
          <p:nvPr/>
        </p:nvSpPr>
        <p:spPr>
          <a:xfrm>
            <a:off x="581025" y="3367087"/>
            <a:ext cx="3077765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3658790" y="3367087"/>
            <a:ext cx="20193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678090" y="3367087"/>
            <a:ext cx="593288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581025" y="3943350"/>
            <a:ext cx="307776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3658790" y="3943350"/>
            <a:ext cx="20193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678090" y="3943350"/>
            <a:ext cx="593288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581025" y="4505325"/>
            <a:ext cx="307776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3658790" y="4505325"/>
            <a:ext cx="20193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678090" y="4505325"/>
            <a:ext cx="593288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581025" y="5067300"/>
            <a:ext cx="307776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3658790" y="5067300"/>
            <a:ext cx="20193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5678090" y="5067300"/>
            <a:ext cx="593288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581025" y="5629275"/>
            <a:ext cx="307776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3658790" y="5629275"/>
            <a:ext cx="20193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5678090" y="5629275"/>
            <a:ext cx="593288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FFA3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Gambaran Proyek</a:t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7387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757487"/>
            <a:ext cx="5276850" cy="13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81025" y="1957387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Package resmi Laravel yang mengintegrasikan AI assistant langsung ke Artisan CLI.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966912"/>
            <a:ext cx="22002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962025" y="4271962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Keuntungan: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Boilerplate cepat, debugging terbantu.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962025" y="4767262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Kekurangan: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Butuh internet &amp; verifikasi manual.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FFA3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Fitur #1: Laravel Boost (AI Assistant)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719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76726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09812"/>
            <a:ext cx="5276850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876300" y="2605087"/>
            <a:ext cx="492061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FA3"/>
                </a:solidFill>
                <a:latin typeface="Urbanist"/>
                <a:ea typeface="Urbanist"/>
                <a:cs typeface="Urbanist"/>
                <a:sym typeface="Urbanist"/>
              </a:rPr>
              <a:t>Standard Format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76300" y="4148137"/>
            <a:ext cx="4686300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Fitur prefersJsonResponses() menangani error otomatis sebagai JSON.</a:t>
            </a:r>
            <a:endParaRPr/>
          </a:p>
        </p:txBody>
      </p:sp>
      <p:graphicFrame>
        <p:nvGraphicFramePr>
          <p:cNvPr id="186" name="Google Shape;186;p18"/>
          <p:cNvGraphicFramePr/>
          <p:nvPr/>
        </p:nvGraphicFramePr>
        <p:xfrm>
          <a:off x="6334125" y="25003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{7C6A2F5B-5B84-42BF-8802-2091FCFBB0C1}</a:tableStyleId>
              </a:tblPr>
              <a:tblGrid>
                <a:gridCol w="1753500"/>
                <a:gridCol w="3523350"/>
              </a:tblGrid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FFA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FFA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Endpoint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/api/tasks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/api/tasks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/api/tasks/{id}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DELETE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/api/tasks/{id}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18"/>
          <p:cNvSpPr/>
          <p:nvPr/>
        </p:nvSpPr>
        <p:spPr>
          <a:xfrm>
            <a:off x="6334125" y="3100387"/>
            <a:ext cx="1753492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087617" y="3100387"/>
            <a:ext cx="3523357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6334125" y="3686175"/>
            <a:ext cx="175349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8087617" y="3686175"/>
            <a:ext cx="35233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334125" y="4257675"/>
            <a:ext cx="175349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087617" y="4257675"/>
            <a:ext cx="35233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6334125" y="4829175"/>
            <a:ext cx="175349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8087617" y="4829175"/>
            <a:ext cx="35233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6334125" y="5400675"/>
            <a:ext cx="175349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8087617" y="5400675"/>
            <a:ext cx="35233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FFA3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Fitur #2: JSON Response Standard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66975"/>
            <a:ext cx="52768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66975"/>
            <a:ext cx="527685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3581400"/>
            <a:ext cx="46863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3886200"/>
            <a:ext cx="468630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581025" y="495300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"Meningkatkan keterbacaan kode secara signifikan dan lebih modular."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876300" y="2762250"/>
            <a:ext cx="492061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Laravel 12 (Traditional)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876300" y="3181350"/>
            <a:ext cx="4686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Penulisan di constructor via OOP konvensional.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629400" y="2762250"/>
            <a:ext cx="492061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Laravel 13 (Modern)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629400" y="3181350"/>
            <a:ext cx="468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Menggunakan PHP 8 Attributes di atas method secara eksplisit.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FFA3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Fitur #3: Attribute-Based Development</a:t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924175"/>
            <a:ext cx="4562475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962025" y="771525"/>
            <a:ext cx="4590573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FFA3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Fitur #4: Security Improvement</a:t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771525" y="771525"/>
            <a:ext cx="57150" cy="97155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771525" y="2124075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Transisi dari </a:t>
            </a: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VerifyCsrfToken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ke sistem baru yang lebih ringan &amp; terintegrasi: </a:t>
            </a: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PreventRequestForgery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descr="image.png" id="224" name="Google Shape;22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9525"/>
            <a:ext cx="22288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1447800" y="3219450"/>
            <a:ext cx="3590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Terintegrasi Bootstrap: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Tidak lagi berupa class middleware terpisah yang berat.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1447800" y="4019550"/>
            <a:ext cx="3590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Fleksibilitas Tinggi: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Pengecualian route lebih mudah didefinisikan.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447800" y="4819650"/>
            <a:ext cx="35909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Performa: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Pengurangan overhead pada request lifecycle.</a:t>
            </a:r>
            <a:endParaRPr/>
          </a:p>
        </p:txBody>
      </p:sp>
      <p:pic>
        <p:nvPicPr>
          <p:cNvPr descr="image.png" id="228" name="Google Shape;22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32194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019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8196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575" y="1795462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481512"/>
            <a:ext cx="527685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581025" y="5319712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Analogi: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Seperti memesan makanan—pelanggan tidak perlu menunggu di depan kompor.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334125" y="2776537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Highlight Baru L13</a:t>
            </a:r>
            <a:endParaRPr/>
          </a:p>
        </p:txBody>
      </p:sp>
      <p:pic>
        <p:nvPicPr>
          <p:cNvPr descr="image.png" id="240" name="Google Shape;24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62100" y="1804987"/>
            <a:ext cx="3314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6715125" y="2995612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Debounceable Jobs: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Hindari duplikasi tugas berat.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715125" y="3490912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Queue Inspection: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Monitoring antrean real-time.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715125" y="3986212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Queue Routing: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Distribusi beban kerja lebih cerdas.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FFA3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Fitur #5: Queue Modernization</a:t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6" name="Google Shape;24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29956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4909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98621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4" name="Google Shape;254;p22"/>
          <p:cNvGraphicFramePr/>
          <p:nvPr/>
        </p:nvGraphicFramePr>
        <p:xfrm>
          <a:off x="581025" y="22383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{7C6A2F5B-5B84-42BF-8802-2091FCFBB0C1}</a:tableStyleId>
              </a:tblPr>
              <a:tblGrid>
                <a:gridCol w="2532750"/>
                <a:gridCol w="3962550"/>
                <a:gridCol w="4534650"/>
              </a:tblGrid>
              <a:tr h="5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FFA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Aspek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FFA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Laravel 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FFA3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Laravel 13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222"/>
                    </a:solidFill>
                  </a:tcPr>
                </a:tc>
              </a:tr>
              <a:tr h="5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AI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❌ Tidak 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✅ Laravel Boost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JSON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Manual Format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 Response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Security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VerifyCsrfToken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PreventRequestForgery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PHP Min.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8.1+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8.3+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Filosofi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Backend Tradisional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AI Native + DX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5" name="Google Shape;255;p22"/>
          <p:cNvSpPr/>
          <p:nvPr/>
        </p:nvSpPr>
        <p:spPr>
          <a:xfrm>
            <a:off x="581025" y="2838450"/>
            <a:ext cx="2532757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3113782" y="2838450"/>
            <a:ext cx="396254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7076330" y="2838450"/>
            <a:ext cx="453464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81025" y="3414712"/>
            <a:ext cx="25327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3113782" y="3414712"/>
            <a:ext cx="39625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7076330" y="3414712"/>
            <a:ext cx="45346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581025" y="3976687"/>
            <a:ext cx="25327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3113782" y="3976687"/>
            <a:ext cx="39625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7076330" y="3976687"/>
            <a:ext cx="45346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581025" y="4538662"/>
            <a:ext cx="25327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3113782" y="4538662"/>
            <a:ext cx="39625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7076330" y="4538662"/>
            <a:ext cx="45346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581025" y="5100637"/>
            <a:ext cx="25327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3113782" y="5100637"/>
            <a:ext cx="39625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7076330" y="5100637"/>
            <a:ext cx="45346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581025" y="5662612"/>
            <a:ext cx="25327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3113782" y="5662612"/>
            <a:ext cx="396254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7076330" y="5662612"/>
            <a:ext cx="45346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FFA3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Perbandingan Generasi</a:t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95525"/>
            <a:ext cx="3683049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49824" y="2295525"/>
            <a:ext cx="3683049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18624" y="2295525"/>
            <a:ext cx="3092499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 txBox="1"/>
          <p:nvPr/>
        </p:nvSpPr>
        <p:spPr>
          <a:xfrm>
            <a:off x="581025" y="512445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FA3"/>
                </a:solidFill>
                <a:latin typeface="Urbanist"/>
                <a:ea typeface="Urbanist"/>
                <a:cs typeface="Urbanist"/>
                <a:sym typeface="Urbanist"/>
              </a:rPr>
              <a:t>"AI adalah partner, bukan pengganti. Logika programmer tetap yang utama."</a:t>
            </a:r>
            <a:endParaRPr/>
          </a:p>
        </p:txBody>
      </p:sp>
      <p:pic>
        <p:nvPicPr>
          <p:cNvPr descr="image.png" id="284" name="Google Shape;28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2437" y="2590800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798987" y="3209925"/>
            <a:ext cx="324712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Laravel Boost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876300" y="3629025"/>
            <a:ext cx="3092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Digunakan untuk generate boilerplate controller &amp; migrasi database.</a:t>
            </a:r>
            <a:endParaRPr/>
          </a:p>
        </p:txBody>
      </p:sp>
      <p:pic>
        <p:nvPicPr>
          <p:cNvPr descr="image.png" id="287" name="Google Shape;28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53150" y="25908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4767787" y="3209925"/>
            <a:ext cx="324712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Claude / Anthropic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4845099" y="3629025"/>
            <a:ext cx="30924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Membantu konseptualisasi fitur baru, debugging, &amp; dokumentasi.</a:t>
            </a:r>
            <a:endParaRPr/>
          </a:p>
        </p:txBody>
      </p:sp>
      <p:pic>
        <p:nvPicPr>
          <p:cNvPr descr="image.png" id="290" name="Google Shape;290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28149" y="2305050"/>
            <a:ext cx="18097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3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FFA3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Penggunaan AI dalam Development</a:t>
            </a:r>
            <a:endParaRPr/>
          </a:p>
        </p:txBody>
      </p:sp>
      <p:sp>
        <p:nvSpPr>
          <p:cNvPr id="292" name="Google Shape;292;p23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822501"/>
            <a:ext cx="11029950" cy="131802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4"/>
          <p:cNvSpPr txBox="1"/>
          <p:nvPr/>
        </p:nvSpPr>
        <p:spPr>
          <a:xfrm>
            <a:off x="305276" y="1031676"/>
            <a:ext cx="11581447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FFA3"/>
                </a:solidFill>
                <a:latin typeface="Urbanist"/>
                <a:ea typeface="Urbanist"/>
                <a:cs typeface="Urbanist"/>
                <a:sym typeface="Urbanist"/>
              </a:rPr>
              <a:t>Selesai &amp; Refleksi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581025" y="5521523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Urbanist"/>
                <a:ea typeface="Urbanist"/>
                <a:cs typeface="Urbanist"/>
                <a:sym typeface="Urbanist"/>
              </a:rPr>
              <a:t>Terima Kasih | www.vinohafizh.dev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962025" y="4108251"/>
            <a:ext cx="10363200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"AI adalah partner, bukan pengganti. Programmer yang paham logika tetap akan selalu dibutuhkan."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2190750" y="2146101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Insight: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Framework modern fokus pada efisiensi (DX).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2190750" y="2641401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Kendala: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Penyesuaian middleware &amp; konfigurasi API key AI.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2190750" y="3136701"/>
            <a:ext cx="8191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Refleksi: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Programmer yang memahami logika AI akan lebih unggul.</a:t>
            </a:r>
            <a:endParaRPr/>
          </a:p>
        </p:txBody>
      </p:sp>
      <p:pic>
        <p:nvPicPr>
          <p:cNvPr descr="image.png" id="305" name="Google Shape;30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1461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26414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13670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2" name="Google Shape;3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/>
          <p:nvPr/>
        </p:nvSpPr>
        <p:spPr>
          <a:xfrm>
            <a:off x="581025" y="2099518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581025" y="3082379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581025" y="4065240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581025" y="307285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581025" y="307285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581025" y="405571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581025" y="405571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581025" y="484048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581025" y="484048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2" name="Google Shape;32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48061"/>
            <a:ext cx="115252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5"/>
          <p:cNvSpPr txBox="1"/>
          <p:nvPr/>
        </p:nvSpPr>
        <p:spPr>
          <a:xfrm>
            <a:off x="1676400" y="2242393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https://plus.unsplash.com/premium_photo-1764695595385-ed92175c3857?fm=jpg&amp;q=60&amp;w=3000&amp;auto=format&amp;fit=crop&amp;ixlib=rb-4.1.0&amp;ixid=M3wxMjA3fDB8MHxwaG90by1wYWdlfHx8fGVufDB8fHx8fA%3D%3D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1676400" y="2686198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unsplash.com</a:t>
            </a:r>
            <a:endParaRPr/>
          </a:p>
        </p:txBody>
      </p:sp>
      <p:pic>
        <p:nvPicPr>
          <p:cNvPr descr="image.png" id="325" name="Google Shape;32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33092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5"/>
          <p:cNvSpPr txBox="1"/>
          <p:nvPr/>
        </p:nvSpPr>
        <p:spPr>
          <a:xfrm>
            <a:off x="1676400" y="3225254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https://elements-resized.envatousercontent.com/elements-video-cover-images/fb5547fe-3125-4783-bfa0-93fa84498fac/video_preview/video_preview_0000.jpg?w=500&amp;cf_fit=cover&amp;q=85&amp;format=auto&amp;s=fb56784604c435d1f590155334580e82fab45b8e1e63fe449122aaa27f19820b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1676400" y="3669059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elements.envato.com</a:t>
            </a:r>
            <a:endParaRPr/>
          </a:p>
        </p:txBody>
      </p:sp>
      <p:pic>
        <p:nvPicPr>
          <p:cNvPr descr="image.png" id="328" name="Google Shape;32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214663"/>
            <a:ext cx="18478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5"/>
          <p:cNvSpPr txBox="1"/>
          <p:nvPr/>
        </p:nvSpPr>
        <p:spPr>
          <a:xfrm>
            <a:off x="1676400" y="4208115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https://cdn.shopify.com/s/files/1/0699/6967/4529/files/urbanica-quad-office-workstation-desk-4-person-modern-team-desk-setup.jpg?v=1748953023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1676400" y="4453830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urbanicafurniture.com</a:t>
            </a:r>
            <a:endParaRPr/>
          </a:p>
        </p:txBody>
      </p:sp>
      <p:pic>
        <p:nvPicPr>
          <p:cNvPr descr="image.png" id="331" name="Google Shape;33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9994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5"/>
          <p:cNvSpPr txBox="1"/>
          <p:nvPr/>
        </p:nvSpPr>
        <p:spPr>
          <a:xfrm>
            <a:off x="1676400" y="4992885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https://www.karmickinstitute.com/wp-content/uploads/2026/01/Future-of-Web-Development-in-2026-and-Beyond.webp</a:t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1676400" y="523860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www.karmickinstitute.com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0FFA3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sp>
        <p:nvSpPr>
          <p:cNvPr id="335" name="Google Shape;335;p25"/>
          <p:cNvSpPr/>
          <p:nvPr/>
        </p:nvSpPr>
        <p:spPr>
          <a:xfrm>
            <a:off x="581025" y="581025"/>
            <a:ext cx="57150" cy="485775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